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e20bd564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e20bd564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-&gt; Today we’re presenting our CS625 final project: the </a:t>
            </a:r>
            <a:r>
              <a:rPr i="1" lang="en-GB">
                <a:solidFill>
                  <a:schemeClr val="dk1"/>
                </a:solidFill>
              </a:rPr>
              <a:t>Smart Portfolio Analyzer &amp; Risk Simulator</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This is a fully object-oriented, Python-based investment analysis platform built using Streamlit for the frontend and NumPy, Pandas, and Monte Carlo simulation for the backend.</a:t>
            </a:r>
            <a:endParaRPr>
              <a:solidFill>
                <a:schemeClr val="dk1"/>
              </a:solidFill>
            </a:endParaRPr>
          </a:p>
          <a:p>
            <a:pPr indent="0" lvl="0" marL="0" rtl="0" algn="l">
              <a:spcBef>
                <a:spcPts val="0"/>
              </a:spcBef>
              <a:spcAft>
                <a:spcPts val="0"/>
              </a:spcAft>
              <a:buNone/>
            </a:pPr>
            <a:r>
              <a:rPr lang="en-GB">
                <a:solidFill>
                  <a:schemeClr val="dk1"/>
                </a:solidFill>
              </a:rPr>
              <a:t>Our team—Kalyani, Richie, and Kevin—collaborated to design a system that helps users understand both portfolio performance and risk in a simple, interactive format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e20bd5640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Most investors—especially beginners—don’t have access to clear, transparent tools that explain risk and performance.</a:t>
            </a:r>
            <a:endParaRPr/>
          </a:p>
          <a:p>
            <a:pPr indent="0" lvl="0" marL="0" rtl="0" algn="l">
              <a:spcBef>
                <a:spcPts val="0"/>
              </a:spcBef>
              <a:spcAft>
                <a:spcPts val="0"/>
              </a:spcAft>
              <a:buClr>
                <a:schemeClr val="dk1"/>
              </a:buClr>
              <a:buSzPts val="1100"/>
              <a:buFont typeface="Arial"/>
              <a:buNone/>
            </a:pPr>
            <a:r>
              <a:rPr lang="en-GB"/>
              <a:t>Existing platforms are often too technical, too expensive, or too opaque in methodology.</a:t>
            </a:r>
            <a:endParaRPr/>
          </a:p>
          <a:p>
            <a:pPr indent="0" lvl="0" marL="0" rtl="0" algn="l">
              <a:spcBef>
                <a:spcPts val="0"/>
              </a:spcBef>
              <a:spcAft>
                <a:spcPts val="0"/>
              </a:spcAft>
              <a:buClr>
                <a:schemeClr val="dk1"/>
              </a:buClr>
              <a:buSzPts val="1100"/>
              <a:buFont typeface="Arial"/>
              <a:buNone/>
            </a:pPr>
            <a:r>
              <a:rPr lang="en-GB"/>
              <a:t>Our goal was to build a tool that bridges this gap.</a:t>
            </a:r>
            <a:endParaRPr/>
          </a:p>
          <a:p>
            <a:pPr indent="0" lvl="0" marL="0" rtl="0" algn="l">
              <a:spcBef>
                <a:spcPts val="0"/>
              </a:spcBef>
              <a:spcAft>
                <a:spcPts val="0"/>
              </a:spcAft>
              <a:buClr>
                <a:schemeClr val="dk1"/>
              </a:buClr>
              <a:buSzPts val="1100"/>
              <a:buFont typeface="Arial"/>
              <a:buNone/>
            </a:pPr>
            <a:r>
              <a:rPr lang="en-GB"/>
              <a:t>It simplifies analytics, visualizes portfolio trends, and runs real risk simulations like VaR, CVaR, and stress scenarios.</a:t>
            </a:r>
            <a:endParaRPr/>
          </a:p>
          <a:p>
            <a:pPr indent="0" lvl="0" marL="0" rtl="0" algn="l">
              <a:spcBef>
                <a:spcPts val="0"/>
              </a:spcBef>
              <a:spcAft>
                <a:spcPts val="0"/>
              </a:spcAft>
              <a:buNone/>
            </a:pPr>
            <a:r>
              <a:rPr lang="en-GB"/>
              <a:t>The idea is to help everyday investors make smart, data-driven decisions</a:t>
            </a:r>
            <a:endParaRPr/>
          </a:p>
        </p:txBody>
      </p:sp>
      <p:sp>
        <p:nvSpPr>
          <p:cNvPr id="66" name="Google Shape;66;g3ae20bd5640_2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e20bd5640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system is built entirely on object-oriented principles, which makes it structured, extendable, and modular.</a:t>
            </a:r>
            <a:br>
              <a:rPr lang="en-GB">
                <a:solidFill>
                  <a:schemeClr val="dk1"/>
                </a:solidFill>
              </a:rPr>
            </a:br>
            <a:r>
              <a:rPr lang="en-GB">
                <a:solidFill>
                  <a:schemeClr val="dk1"/>
                </a:solidFill>
              </a:rPr>
              <a:t> We designed five main classes: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a:solidFill>
                  <a:schemeClr val="dk1"/>
                </a:solidFill>
              </a:rPr>
              <a:t>Asset</a:t>
            </a:r>
            <a:r>
              <a:rPr lang="en-GB">
                <a:solidFill>
                  <a:schemeClr val="dk1"/>
                </a:solidFill>
              </a:rPr>
              <a:t>: handles prices, returns, metadata.</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Portfolio</a:t>
            </a:r>
            <a:r>
              <a:rPr lang="en-GB">
                <a:solidFill>
                  <a:schemeClr val="dk1"/>
                </a:solidFill>
              </a:rPr>
              <a:t>: calculates returns, volatility, Sharpe ratio, and drawdowns.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RiskSimulator</a:t>
            </a:r>
            <a:r>
              <a:rPr lang="en-GB">
                <a:solidFill>
                  <a:schemeClr val="dk1"/>
                </a:solidFill>
              </a:rPr>
              <a:t>: runs Monte Carlo simulations and computes VaR/CVaR.</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DataManager</a:t>
            </a:r>
            <a:r>
              <a:rPr lang="en-GB">
                <a:solidFill>
                  <a:schemeClr val="dk1"/>
                </a:solidFill>
              </a:rPr>
              <a:t>: loads historical data and can be upgraded to API feeds.</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a:solidFill>
                  <a:schemeClr val="dk1"/>
                </a:solidFill>
              </a:rPr>
              <a:t>Analytics</a:t>
            </a:r>
            <a:r>
              <a:rPr lang="en-GB">
                <a:solidFill>
                  <a:schemeClr val="dk1"/>
                </a:solidFill>
              </a:rPr>
              <a:t>: contains helper formulas for financial metrics.</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Encapsulation and reusability were essential. Because of this architecture, adding new assets, risk models, or forecasting methods becomes very easy</a:t>
            </a:r>
            <a:endParaRPr>
              <a:solidFill>
                <a:schemeClr val="dk1"/>
              </a:solidFill>
            </a:endParaRPr>
          </a:p>
          <a:p>
            <a:pPr indent="0" lvl="0" marL="0" rtl="0" algn="l">
              <a:spcBef>
                <a:spcPts val="1200"/>
              </a:spcBef>
              <a:spcAft>
                <a:spcPts val="0"/>
              </a:spcAft>
              <a:buNone/>
            </a:pPr>
            <a:r>
              <a:t/>
            </a:r>
            <a:endParaRPr/>
          </a:p>
        </p:txBody>
      </p:sp>
      <p:sp>
        <p:nvSpPr>
          <p:cNvPr id="72" name="Google Shape;72;g3ae20bd5640_2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e20bd5640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For the </a:t>
            </a:r>
            <a:r>
              <a:rPr b="1" lang="en-GB">
                <a:solidFill>
                  <a:schemeClr val="dk1"/>
                </a:solidFill>
              </a:rPr>
              <a:t>frontend</a:t>
            </a:r>
            <a:r>
              <a:rPr lang="en-GB">
                <a:solidFill>
                  <a:schemeClr val="dk1"/>
                </a:solidFill>
              </a:rPr>
              <a:t>, we used Streamlit to create a clean, interactive user experience and Plotly for dynamic charts.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For the </a:t>
            </a:r>
            <a:r>
              <a:rPr b="1" lang="en-GB">
                <a:solidFill>
                  <a:schemeClr val="dk1"/>
                </a:solidFill>
              </a:rPr>
              <a:t>backend</a:t>
            </a:r>
            <a:r>
              <a:rPr lang="en-GB">
                <a:solidFill>
                  <a:schemeClr val="dk1"/>
                </a:solidFill>
              </a:rPr>
              <a:t>, Python, Pandas, and NumPy handle all the computation efficiently.</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And for </a:t>
            </a:r>
            <a:r>
              <a:rPr b="1" lang="en-GB">
                <a:solidFill>
                  <a:schemeClr val="dk1"/>
                </a:solidFill>
              </a:rPr>
              <a:t>risk modeling</a:t>
            </a:r>
            <a:r>
              <a:rPr lang="en-GB">
                <a:solidFill>
                  <a:schemeClr val="dk1"/>
                </a:solidFill>
              </a:rPr>
              <a:t>, we implemented a Monte Carlo engine with over 3,400 simulations.</a:t>
            </a:r>
            <a:endParaRPr>
              <a:solidFill>
                <a:schemeClr val="dk1"/>
              </a:solidFill>
            </a:endParaRPr>
          </a:p>
          <a:p>
            <a:pPr indent="0" lvl="0" marL="0" rtl="0" algn="l">
              <a:spcBef>
                <a:spcPts val="0"/>
              </a:spcBef>
              <a:spcAft>
                <a:spcPts val="0"/>
              </a:spcAft>
              <a:buNone/>
            </a:pPr>
            <a:r>
              <a:rPr lang="en-GB">
                <a:solidFill>
                  <a:schemeClr val="dk1"/>
                </a:solidFill>
              </a:rPr>
              <a:t>We also incorporated VaR, CVaR,Prophet, </a:t>
            </a:r>
            <a:r>
              <a:rPr lang="en-GB">
                <a:solidFill>
                  <a:schemeClr val="dk1"/>
                </a:solidFill>
              </a:rPr>
              <a:t>Efficient</a:t>
            </a:r>
            <a:r>
              <a:rPr lang="en-GB">
                <a:solidFill>
                  <a:schemeClr val="dk1"/>
                </a:solidFill>
              </a:rPr>
              <a:t> Frontier stress testing—similar to what’s used in institutional risk tools.</a:t>
            </a:r>
            <a:endParaRPr/>
          </a:p>
        </p:txBody>
      </p:sp>
      <p:sp>
        <p:nvSpPr>
          <p:cNvPr id="78" name="Google Shape;78;g3ae20bd5640_2_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e20bd5640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This slide summarizes our selected ETF portfolio: VTI, VXUS, XLK, VIG, and IEF.</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portfolio is worth about </a:t>
            </a:r>
            <a:r>
              <a:rPr b="1" lang="en-GB">
                <a:solidFill>
                  <a:schemeClr val="dk1"/>
                </a:solidFill>
              </a:rPr>
              <a:t>$73,300</a:t>
            </a:r>
            <a:r>
              <a:rPr lang="en-GB">
                <a:solidFill>
                  <a:schemeClr val="dk1"/>
                </a:solidFill>
              </a:rPr>
              <a:t>, with a profit of </a:t>
            </a:r>
            <a:r>
              <a:rPr b="1" lang="en-GB">
                <a:solidFill>
                  <a:schemeClr val="dk1"/>
                </a:solidFill>
              </a:rPr>
              <a:t>$3,422</a:t>
            </a:r>
            <a:r>
              <a:rPr lang="en-GB">
                <a:solidFill>
                  <a:schemeClr val="dk1"/>
                </a:solidFill>
              </a:rPr>
              <a:t>, or roughly </a:t>
            </a:r>
            <a:r>
              <a:rPr b="1" lang="en-GB">
                <a:solidFill>
                  <a:schemeClr val="dk1"/>
                </a:solidFill>
              </a:rPr>
              <a:t>4.9%</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pie chart clearly shows diversification across U.S. equity, international equity, technology, dividend ETFs, and bonds.</a:t>
            </a:r>
            <a:endParaRPr>
              <a:solidFill>
                <a:schemeClr val="dk1"/>
              </a:solidFill>
            </a:endParaRPr>
          </a:p>
          <a:p>
            <a:pPr indent="0" lvl="0" marL="0" rtl="0" algn="l">
              <a:spcBef>
                <a:spcPts val="0"/>
              </a:spcBef>
              <a:spcAft>
                <a:spcPts val="0"/>
              </a:spcAft>
              <a:buNone/>
            </a:pPr>
            <a:r>
              <a:rPr lang="en-GB">
                <a:solidFill>
                  <a:schemeClr val="dk1"/>
                </a:solidFill>
              </a:rPr>
              <a:t>This balanced setup helps reduce volatility while maintaining strong long-term return potential.</a:t>
            </a:r>
            <a:endParaRPr/>
          </a:p>
        </p:txBody>
      </p:sp>
      <p:sp>
        <p:nvSpPr>
          <p:cNvPr id="84" name="Google Shape;84;g3ae20bd5640_2_9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e20bd5640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Here we highlight key performance metrics.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portfolio generated an </a:t>
            </a:r>
            <a:r>
              <a:rPr b="1" lang="en-GB">
                <a:solidFill>
                  <a:schemeClr val="dk1"/>
                </a:solidFill>
              </a:rPr>
              <a:t>11.88% total return</a:t>
            </a:r>
            <a:r>
              <a:rPr lang="en-GB">
                <a:solidFill>
                  <a:schemeClr val="dk1"/>
                </a:solidFill>
              </a:rPr>
              <a:t>, with an </a:t>
            </a:r>
            <a:r>
              <a:rPr b="1" lang="en-GB">
                <a:solidFill>
                  <a:schemeClr val="dk1"/>
                </a:solidFill>
              </a:rPr>
              <a:t>annualized return of 12.54%</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Volatility is moderate at about </a:t>
            </a:r>
            <a:r>
              <a:rPr b="1" lang="en-GB">
                <a:solidFill>
                  <a:schemeClr val="dk1"/>
                </a:solidFill>
              </a:rPr>
              <a:t>15.43%</a:t>
            </a:r>
            <a:r>
              <a:rPr lang="en-GB">
                <a:solidFill>
                  <a:schemeClr val="dk1"/>
                </a:solidFill>
              </a:rPr>
              <a:t>, and the </a:t>
            </a:r>
            <a:r>
              <a:rPr b="1" lang="en-GB">
                <a:solidFill>
                  <a:schemeClr val="dk1"/>
                </a:solidFill>
              </a:rPr>
              <a:t>max drawdown of –15.27%</a:t>
            </a:r>
            <a:r>
              <a:rPr lang="en-GB">
                <a:solidFill>
                  <a:schemeClr val="dk1"/>
                </a:solidFill>
              </a:rPr>
              <a:t> is reasonable for an equity-heavy setup.</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With a </a:t>
            </a:r>
            <a:r>
              <a:rPr b="1" lang="en-GB">
                <a:solidFill>
                  <a:schemeClr val="dk1"/>
                </a:solidFill>
              </a:rPr>
              <a:t>Sharpe ratio of 0.54</a:t>
            </a:r>
            <a:r>
              <a:rPr lang="en-GB">
                <a:solidFill>
                  <a:schemeClr val="dk1"/>
                </a:solidFill>
              </a:rPr>
              <a:t>, the portfolio’s risk-adjusted returns are healthy.</a:t>
            </a:r>
            <a:endParaRPr>
              <a:solidFill>
                <a:schemeClr val="dk1"/>
              </a:solidFill>
            </a:endParaRPr>
          </a:p>
          <a:p>
            <a:pPr indent="0" lvl="0" marL="0" rtl="0" algn="l">
              <a:spcBef>
                <a:spcPts val="0"/>
              </a:spcBef>
              <a:spcAft>
                <a:spcPts val="0"/>
              </a:spcAft>
              <a:buNone/>
            </a:pPr>
            <a:r>
              <a:rPr lang="en-GB">
                <a:solidFill>
                  <a:schemeClr val="dk1"/>
                </a:solidFill>
              </a:rPr>
              <a:t>Overall, these results indicate a growing and relatively stable portfolio</a:t>
            </a:r>
            <a:endParaRPr/>
          </a:p>
        </p:txBody>
      </p:sp>
      <p:sp>
        <p:nvSpPr>
          <p:cNvPr id="91" name="Google Shape;91;g3ae20bd5640_2_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e20bd5640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Monte Carlo simulator projects future return distributions based on historical volatility and correlations.</a:t>
            </a:r>
            <a:br>
              <a:rPr lang="en-GB">
                <a:solidFill>
                  <a:schemeClr val="dk1"/>
                </a:solidFill>
              </a:rPr>
            </a:br>
            <a:r>
              <a:rPr lang="en-GB">
                <a:solidFill>
                  <a:schemeClr val="dk1"/>
                </a:solidFill>
              </a:rPr>
              <a:t> The expected return is around </a:t>
            </a:r>
            <a:r>
              <a:rPr b="1" lang="en-GB">
                <a:solidFill>
                  <a:schemeClr val="dk1"/>
                </a:solidFill>
              </a:rPr>
              <a:t>28.49%</a:t>
            </a:r>
            <a:r>
              <a:rPr lang="en-GB">
                <a:solidFill>
                  <a:schemeClr val="dk1"/>
                </a:solidFill>
              </a:rPr>
              <a:t>, with relatively low simulated volatility.</a:t>
            </a:r>
            <a:br>
              <a:rPr lang="en-GB">
                <a:solidFill>
                  <a:schemeClr val="dk1"/>
                </a:solidFill>
              </a:rPr>
            </a:br>
            <a:r>
              <a:rPr lang="en-GB">
                <a:solidFill>
                  <a:schemeClr val="dk1"/>
                </a:solidFill>
              </a:rPr>
              <a:t> We calculate both </a:t>
            </a:r>
            <a:r>
              <a:rPr b="1" lang="en-GB">
                <a:solidFill>
                  <a:schemeClr val="dk1"/>
                </a:solidFill>
              </a:rPr>
              <a:t>VaR</a:t>
            </a:r>
            <a:r>
              <a:rPr lang="en-GB">
                <a:solidFill>
                  <a:schemeClr val="dk1"/>
                </a:solidFill>
              </a:rPr>
              <a:t> and </a:t>
            </a:r>
            <a:r>
              <a:rPr b="1" lang="en-GB">
                <a:solidFill>
                  <a:schemeClr val="dk1"/>
                </a:solidFill>
              </a:rPr>
              <a:t>CVaR</a:t>
            </a:r>
            <a:r>
              <a:rPr lang="en-GB">
                <a:solidFill>
                  <a:schemeClr val="dk1"/>
                </a:solidFill>
              </a:rPr>
              <a:t> at the 95% confidence level, which estimate worst-case losses.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Stress scenarios show:</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A market crash could reduce value by </a:t>
            </a:r>
            <a:r>
              <a:rPr b="1" lang="en-GB">
                <a:solidFill>
                  <a:schemeClr val="dk1"/>
                </a:solidFill>
              </a:rPr>
              <a:t>$21,990</a:t>
            </a:r>
            <a:br>
              <a:rPr b="1" lang="en-GB">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 mild recession by </a:t>
            </a:r>
            <a:r>
              <a:rPr b="1" lang="en-GB">
                <a:solidFill>
                  <a:schemeClr val="dk1"/>
                </a:solidFill>
              </a:rPr>
              <a:t>$10,995</a:t>
            </a:r>
            <a:br>
              <a:rPr b="1" lang="en-GB">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 rate-hike scenario by </a:t>
            </a:r>
            <a:r>
              <a:rPr b="1" lang="en-GB">
                <a:solidFill>
                  <a:schemeClr val="dk1"/>
                </a:solidFill>
              </a:rPr>
              <a:t>$3,665</a:t>
            </a:r>
            <a:br>
              <a:rPr b="1" lang="en-GB">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helps users understand how severe events could impact their investments</a:t>
            </a:r>
            <a:endParaRPr>
              <a:solidFill>
                <a:schemeClr val="dk1"/>
              </a:solidFill>
            </a:endParaRPr>
          </a:p>
          <a:p>
            <a:pPr indent="0" lvl="0" marL="0" rtl="0" algn="l">
              <a:spcBef>
                <a:spcPts val="1200"/>
              </a:spcBef>
              <a:spcAft>
                <a:spcPts val="0"/>
              </a:spcAft>
              <a:buNone/>
            </a:pPr>
            <a:r>
              <a:t/>
            </a:r>
            <a:endParaRPr/>
          </a:p>
        </p:txBody>
      </p:sp>
      <p:sp>
        <p:nvSpPr>
          <p:cNvPr id="99" name="Google Shape;99;g3ae20bd5640_2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e20bd5640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e20bd5640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slide shows the Efficient Frontier generated using thousands of simulated portfolios.</a:t>
            </a:r>
            <a:br>
              <a:rPr lang="en-GB">
                <a:solidFill>
                  <a:schemeClr val="dk1"/>
                </a:solidFill>
              </a:rPr>
            </a:br>
            <a:r>
              <a:rPr lang="en-GB">
                <a:solidFill>
                  <a:schemeClr val="dk1"/>
                </a:solidFill>
              </a:rPr>
              <a:t> Our optimized portfolio achieves: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Lower volatility: </a:t>
            </a:r>
            <a:r>
              <a:rPr b="1" lang="en-GB">
                <a:solidFill>
                  <a:schemeClr val="dk1"/>
                </a:solidFill>
              </a:rPr>
              <a:t>16.25% reduced to 10.10%</a:t>
            </a:r>
            <a:br>
              <a:rPr b="1" lang="en-GB">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Higher Sharpe ratio: </a:t>
            </a:r>
            <a:r>
              <a:rPr b="1" lang="en-GB">
                <a:solidFill>
                  <a:schemeClr val="dk1"/>
                </a:solidFill>
              </a:rPr>
              <a:t>0.85 increased to 1.25</a:t>
            </a:r>
            <a:br>
              <a:rPr b="1" lang="en-GB">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demonstrates how optimization can significantly improve performance, even using simple ETF combinations.</a:t>
            </a:r>
            <a:br>
              <a:rPr lang="en-GB">
                <a:solidFill>
                  <a:schemeClr val="dk1"/>
                </a:solidFill>
              </a:rPr>
            </a:br>
            <a:r>
              <a:rPr lang="en-GB">
                <a:solidFill>
                  <a:schemeClr val="dk1"/>
                </a:solidFill>
              </a:rPr>
              <a:t> It also validates that our system correctly applies modern portfolio theory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e20bd5640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e20bd5640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To extend our tool beyond historical simulation, we integrated a Prophet forecasting model.</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This predicts the portfolio value 90 days into the future.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Current value is around </a:t>
            </a:r>
            <a:r>
              <a:rPr b="1" lang="en-GB">
                <a:solidFill>
                  <a:schemeClr val="dk1"/>
                </a:solidFill>
              </a:rPr>
              <a:t>$33,756</a:t>
            </a:r>
            <a:r>
              <a:rPr lang="en-GB">
                <a:solidFill>
                  <a:schemeClr val="dk1"/>
                </a:solidFill>
              </a:rPr>
              <a:t>, and Prophet forecasts a slight increase to </a:t>
            </a:r>
            <a:r>
              <a:rPr b="1" lang="en-GB">
                <a:solidFill>
                  <a:schemeClr val="dk1"/>
                </a:solidFill>
              </a:rPr>
              <a:t>$33,794</a:t>
            </a:r>
            <a:r>
              <a:rPr lang="en-GB">
                <a:solidFill>
                  <a:schemeClr val="dk1"/>
                </a:solidFill>
              </a:rPr>
              <a:t>.</a:t>
            </a:r>
            <a:endParaRPr>
              <a:solidFill>
                <a:schemeClr val="dk1"/>
              </a:solidFill>
            </a:endParaRPr>
          </a:p>
          <a:p>
            <a:pPr indent="0" lvl="0" marL="0" rtl="0" algn="l">
              <a:spcBef>
                <a:spcPts val="0"/>
              </a:spcBef>
              <a:spcAft>
                <a:spcPts val="0"/>
              </a:spcAft>
              <a:buNone/>
            </a:pPr>
            <a:r>
              <a:rPr lang="en-GB">
                <a:solidFill>
                  <a:schemeClr val="dk1"/>
                </a:solidFill>
              </a:rPr>
              <a:t>The forecast components show trends, seasonality, and residual components—useful for forward-looking insight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e20bd5640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Our results closely align with academic literature: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Distribution matches </a:t>
            </a:r>
            <a:r>
              <a:rPr b="1" lang="en-GB">
                <a:solidFill>
                  <a:schemeClr val="dk1"/>
                </a:solidFill>
              </a:rPr>
              <a:t>Hull’s Value At Risk modeling</a:t>
            </a:r>
            <a:r>
              <a:rPr lang="en-GB">
                <a:solidFill>
                  <a:schemeClr val="dk1"/>
                </a:solidFill>
              </a:rPr>
              <a:t> assumptions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Drawdown behavior matches empirical ETF research.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Diversification effects align with </a:t>
            </a:r>
            <a:r>
              <a:rPr b="1" lang="en-GB">
                <a:solidFill>
                  <a:schemeClr val="dk1"/>
                </a:solidFill>
              </a:rPr>
              <a:t>Markowitz’s portfolio theory</a:t>
            </a:r>
            <a:r>
              <a:rPr lang="en-GB">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Value at Risk values fall within expectations discussed by </a:t>
            </a:r>
            <a:r>
              <a:rPr b="1" lang="en-GB">
                <a:solidFill>
                  <a:schemeClr val="dk1"/>
                </a:solidFill>
              </a:rPr>
              <a:t>Jorion</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consistency reinforces that our model is theoretically sound and behaves like recognized financial models.”</a:t>
            </a:r>
            <a:endParaRPr>
              <a:solidFill>
                <a:schemeClr val="dk1"/>
              </a:solidFill>
            </a:endParaRPr>
          </a:p>
          <a:p>
            <a:pPr indent="0" lvl="0" marL="0" rtl="0" algn="l">
              <a:spcBef>
                <a:spcPts val="1200"/>
              </a:spcBef>
              <a:spcAft>
                <a:spcPts val="0"/>
              </a:spcAft>
              <a:buNone/>
            </a:pPr>
            <a:r>
              <a:t/>
            </a:r>
            <a:endParaRPr/>
          </a:p>
        </p:txBody>
      </p:sp>
      <p:sp>
        <p:nvSpPr>
          <p:cNvPr id="122" name="Google Shape;122;g3ae20bd5640_2_1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20bd5640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Despite strong functionality, our system has several limitations:</a:t>
            </a:r>
            <a:endParaRPr/>
          </a:p>
          <a:p>
            <a:pPr indent="-298450" lvl="0" marL="457200" rtl="0" algn="l">
              <a:lnSpc>
                <a:spcPct val="115000"/>
              </a:lnSpc>
              <a:spcBef>
                <a:spcPts val="1200"/>
              </a:spcBef>
              <a:spcAft>
                <a:spcPts val="0"/>
              </a:spcAft>
              <a:buClr>
                <a:schemeClr val="dk1"/>
              </a:buClr>
              <a:buSzPts val="1100"/>
              <a:buChar char="●"/>
            </a:pPr>
            <a:r>
              <a:rPr lang="en-GB"/>
              <a:t>We assume normal distributions, which do not capture fat-tailed events.</a:t>
            </a:r>
            <a:endParaRPr/>
          </a:p>
          <a:p>
            <a:pPr indent="-298450" lvl="0" marL="457200" rtl="0" algn="l">
              <a:lnSpc>
                <a:spcPct val="115000"/>
              </a:lnSpc>
              <a:spcBef>
                <a:spcPts val="0"/>
              </a:spcBef>
              <a:spcAft>
                <a:spcPts val="0"/>
              </a:spcAft>
              <a:buClr>
                <a:schemeClr val="dk1"/>
              </a:buClr>
              <a:buSzPts val="1100"/>
              <a:buChar char="●"/>
            </a:pPr>
            <a:r>
              <a:rPr lang="en-GB"/>
              <a:t>Historical data drives all results—meaning black swan events aren’t well represented.</a:t>
            </a:r>
            <a:endParaRPr/>
          </a:p>
          <a:p>
            <a:pPr indent="-298450" lvl="0" marL="457200" rtl="0" algn="l">
              <a:lnSpc>
                <a:spcPct val="115000"/>
              </a:lnSpc>
              <a:spcBef>
                <a:spcPts val="0"/>
              </a:spcBef>
              <a:spcAft>
                <a:spcPts val="0"/>
              </a:spcAft>
              <a:buClr>
                <a:schemeClr val="dk1"/>
              </a:buClr>
              <a:buSzPts val="1100"/>
              <a:buChar char="●"/>
            </a:pPr>
            <a:r>
              <a:rPr lang="en-GB"/>
              <a:t>Stress tests are linear and simplified.</a:t>
            </a:r>
            <a:endParaRPr/>
          </a:p>
          <a:p>
            <a:pPr indent="-298450" lvl="0" marL="457200" rtl="0" algn="l">
              <a:lnSpc>
                <a:spcPct val="115000"/>
              </a:lnSpc>
              <a:spcBef>
                <a:spcPts val="0"/>
              </a:spcBef>
              <a:spcAft>
                <a:spcPts val="0"/>
              </a:spcAft>
              <a:buClr>
                <a:schemeClr val="dk1"/>
              </a:buClr>
              <a:buSzPts val="1100"/>
              <a:buChar char="●"/>
            </a:pPr>
            <a:r>
              <a:rPr lang="en-GB"/>
              <a:t>The UI can be improved.</a:t>
            </a:r>
            <a:endParaRPr/>
          </a:p>
          <a:p>
            <a:pPr indent="0" lvl="0" marL="0" rtl="0" algn="l">
              <a:lnSpc>
                <a:spcPct val="115000"/>
              </a:lnSpc>
              <a:spcBef>
                <a:spcPts val="1200"/>
              </a:spcBef>
              <a:spcAft>
                <a:spcPts val="0"/>
              </a:spcAft>
              <a:buNone/>
            </a:pPr>
            <a:r>
              <a:rPr lang="en-GB"/>
              <a:t>These constraints limit accuracy in extreme market scenarios, but they provide a strong foundation for future improvements.</a:t>
            </a:r>
            <a:endParaRPr/>
          </a:p>
          <a:p>
            <a:pPr indent="0" lvl="0" marL="0" rtl="0" algn="l">
              <a:spcBef>
                <a:spcPts val="1200"/>
              </a:spcBef>
              <a:spcAft>
                <a:spcPts val="0"/>
              </a:spcAft>
              <a:buNone/>
            </a:pPr>
            <a:r>
              <a:t/>
            </a:r>
            <a:endParaRPr/>
          </a:p>
        </p:txBody>
      </p:sp>
      <p:sp>
        <p:nvSpPr>
          <p:cNvPr id="128" name="Google Shape;128;g3ae20bd5640_2_1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e20bd5640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To improve this system, we plan to implement:</a:t>
            </a:r>
            <a:endParaRPr/>
          </a:p>
          <a:p>
            <a:pPr indent="-298450" lvl="0" marL="457200" rtl="0" algn="l">
              <a:lnSpc>
                <a:spcPct val="115000"/>
              </a:lnSpc>
              <a:spcBef>
                <a:spcPts val="1200"/>
              </a:spcBef>
              <a:spcAft>
                <a:spcPts val="0"/>
              </a:spcAft>
              <a:buClr>
                <a:schemeClr val="dk1"/>
              </a:buClr>
              <a:buSzPts val="1100"/>
              <a:buChar char="●"/>
            </a:pPr>
            <a:r>
              <a:rPr lang="en-GB"/>
              <a:t>Fat-tailed models like Student-t or Extreme Value Theory</a:t>
            </a:r>
            <a:endParaRPr/>
          </a:p>
          <a:p>
            <a:pPr indent="-298450" lvl="0" marL="457200" rtl="0" algn="l">
              <a:lnSpc>
                <a:spcPct val="115000"/>
              </a:lnSpc>
              <a:spcBef>
                <a:spcPts val="0"/>
              </a:spcBef>
              <a:spcAft>
                <a:spcPts val="0"/>
              </a:spcAft>
              <a:buClr>
                <a:schemeClr val="dk1"/>
              </a:buClr>
              <a:buSzPts val="1100"/>
              <a:buChar char="●"/>
            </a:pPr>
            <a:r>
              <a:rPr lang="en-GB"/>
              <a:t>Support for crypto and commodity assets</a:t>
            </a:r>
            <a:endParaRPr/>
          </a:p>
          <a:p>
            <a:pPr indent="-298450" lvl="0" marL="457200" rtl="0" algn="l">
              <a:lnSpc>
                <a:spcPct val="115000"/>
              </a:lnSpc>
              <a:spcBef>
                <a:spcPts val="0"/>
              </a:spcBef>
              <a:spcAft>
                <a:spcPts val="0"/>
              </a:spcAft>
              <a:buClr>
                <a:schemeClr val="dk1"/>
              </a:buClr>
              <a:buSzPts val="1100"/>
              <a:buChar char="●"/>
            </a:pPr>
            <a:r>
              <a:rPr lang="en-GB"/>
              <a:t>A more modern and polished UI</a:t>
            </a:r>
            <a:endParaRPr/>
          </a:p>
          <a:p>
            <a:pPr indent="-298450" lvl="0" marL="457200" rtl="0" algn="l">
              <a:lnSpc>
                <a:spcPct val="115000"/>
              </a:lnSpc>
              <a:spcBef>
                <a:spcPts val="0"/>
              </a:spcBef>
              <a:spcAft>
                <a:spcPts val="0"/>
              </a:spcAft>
              <a:buClr>
                <a:schemeClr val="dk1"/>
              </a:buClr>
              <a:buSzPts val="1100"/>
              <a:buChar char="●"/>
            </a:pPr>
            <a:r>
              <a:rPr lang="en-GB"/>
              <a:t>Deeper forecasting models like LSTM</a:t>
            </a:r>
            <a:endParaRPr/>
          </a:p>
          <a:p>
            <a:pPr indent="-298450" lvl="0" marL="457200" rtl="0" algn="l">
              <a:lnSpc>
                <a:spcPct val="115000"/>
              </a:lnSpc>
              <a:spcBef>
                <a:spcPts val="0"/>
              </a:spcBef>
              <a:spcAft>
                <a:spcPts val="0"/>
              </a:spcAft>
              <a:buClr>
                <a:schemeClr val="dk1"/>
              </a:buClr>
              <a:buSzPts val="1100"/>
              <a:buChar char="●"/>
            </a:pPr>
            <a:r>
              <a:rPr lang="en-GB"/>
              <a:t>Real-time API integration (Alpaca for execution and Robinhood for Portfolio inputs)</a:t>
            </a:r>
            <a:br>
              <a:rPr lang="en-GB"/>
            </a:br>
            <a:endParaRPr/>
          </a:p>
          <a:p>
            <a:pPr indent="0" lvl="0" marL="0" rtl="0" algn="l">
              <a:lnSpc>
                <a:spcPct val="115000"/>
              </a:lnSpc>
              <a:spcBef>
                <a:spcPts val="1200"/>
              </a:spcBef>
              <a:spcAft>
                <a:spcPts val="0"/>
              </a:spcAft>
              <a:buClr>
                <a:schemeClr val="dk1"/>
              </a:buClr>
              <a:buSzPts val="1100"/>
              <a:buFont typeface="Arial"/>
              <a:buNone/>
            </a:pPr>
            <a:r>
              <a:rPr lang="en-GB"/>
              <a:t>In conclusion, the Smart Portfolio Analyzer successfully demonstrates how OOP, financial modeling, and interactive dashboards can create a powerful, accessible tool for understanding investment risk and performance. Our architecture is modular and easy to expand, and the results validate the correctness of our methodology. Ultimately, this project shows how technology can empower everyday investors</a:t>
            </a:r>
            <a:endParaRPr/>
          </a:p>
          <a:p>
            <a:pPr indent="0" lvl="0" marL="0" rtl="0" algn="l">
              <a:spcBef>
                <a:spcPts val="1200"/>
              </a:spcBef>
              <a:spcAft>
                <a:spcPts val="0"/>
              </a:spcAft>
              <a:buNone/>
            </a:pPr>
            <a:r>
              <a:t/>
            </a:r>
            <a:endParaRPr/>
          </a:p>
        </p:txBody>
      </p:sp>
      <p:sp>
        <p:nvSpPr>
          <p:cNvPr id="134" name="Google Shape;134;g3ae20bd5640_2_1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e20bd5640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These are the references supporting our financial models—Markowitz, Sharpe, Hull, Jorion, and other recent academic papers on portfolio risk and Monte Carlo analysis.</a:t>
            </a:r>
            <a:endParaRPr/>
          </a:p>
          <a:p>
            <a:pPr indent="0" lvl="0" marL="0" rtl="0" algn="l">
              <a:spcBef>
                <a:spcPts val="0"/>
              </a:spcBef>
              <a:spcAft>
                <a:spcPts val="0"/>
              </a:spcAft>
              <a:buNone/>
            </a:pPr>
            <a:r>
              <a:rPr lang="en-GB"/>
              <a:t>They validate that our approach adheres to well-established theory and industry standards</a:t>
            </a:r>
            <a:endParaRPr/>
          </a:p>
        </p:txBody>
      </p:sp>
      <p:sp>
        <p:nvSpPr>
          <p:cNvPr id="140" name="Google Shape;140;g3ae20bd5640_4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e20bd5640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e20bd5640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1465825"/>
            <a:ext cx="8520600" cy="1368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3400"/>
              <a:t>SPARS</a:t>
            </a:r>
            <a:endParaRPr sz="3400"/>
          </a:p>
          <a:p>
            <a:pPr indent="0" lvl="0" marL="0" rtl="0" algn="ctr">
              <a:spcBef>
                <a:spcPts val="0"/>
              </a:spcBef>
              <a:spcAft>
                <a:spcPts val="0"/>
              </a:spcAft>
              <a:buNone/>
            </a:pPr>
            <a:r>
              <a:rPr lang="en-GB" sz="3400"/>
              <a:t>Smart Portfolio Analyzer &amp; Risk Simulator</a:t>
            </a:r>
            <a:endParaRPr sz="3400"/>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GB"/>
              <a:t>CS625 Final Project Presentation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GB"/>
              <a:t>https://cs625-smart-portfolio.streamlit.app/</a:t>
            </a:r>
            <a:endParaRPr/>
          </a:p>
        </p:txBody>
      </p:sp>
      <p:sp>
        <p:nvSpPr>
          <p:cNvPr id="62" name="Google Shape;62;p14"/>
          <p:cNvSpPr txBox="1"/>
          <p:nvPr/>
        </p:nvSpPr>
        <p:spPr>
          <a:xfrm>
            <a:off x="2154000" y="3487375"/>
            <a:ext cx="4836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lt2"/>
                </a:solidFill>
              </a:rPr>
              <a:t>Kalyani, Richie, Kevin</a:t>
            </a:r>
            <a:endParaRPr sz="1800">
              <a:solidFill>
                <a:schemeClr val="lt2"/>
              </a:solidFill>
            </a:endParaRPr>
          </a:p>
        </p:txBody>
      </p:sp>
      <p:pic>
        <p:nvPicPr>
          <p:cNvPr id="63" name="Google Shape;63;p14"/>
          <p:cNvPicPr preferRelativeResize="0"/>
          <p:nvPr/>
        </p:nvPicPr>
        <p:blipFill>
          <a:blip r:embed="rId3">
            <a:alphaModFix/>
          </a:blip>
          <a:stretch>
            <a:fillRect/>
          </a:stretch>
        </p:blipFill>
        <p:spPr>
          <a:xfrm>
            <a:off x="7183175" y="0"/>
            <a:ext cx="1960824" cy="1960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Introduction &amp; Problem Statement</a:t>
            </a:r>
            <a:endParaRPr/>
          </a:p>
        </p:txBody>
      </p:sp>
      <p:sp>
        <p:nvSpPr>
          <p:cNvPr id="69" name="Google Shape;69;p1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Problem</a:t>
            </a:r>
            <a:endParaRPr sz="1600">
              <a:solidFill>
                <a:schemeClr val="dk1"/>
              </a:solidFill>
              <a:latin typeface="Calibri"/>
              <a:ea typeface="Calibri"/>
              <a:cs typeface="Calibri"/>
              <a:sym typeface="Calibri"/>
            </a:endParaRPr>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Investors lack simple and transparent tools to understand portfolio performance and risk.</a:t>
            </a:r>
            <a:endParaRPr sz="1600"/>
          </a:p>
          <a:p>
            <a:pPr indent="-273050" lvl="1" marL="74295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Most existing platforms are overly technical, costly, or difficult for beginners to interpret.</a:t>
            </a:r>
            <a:endParaRPr sz="1600"/>
          </a:p>
          <a:p>
            <a:pPr indent="-273050" lvl="1" marL="74295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Small investors need accessible, data-driven insights to make informed decisions.</a:t>
            </a:r>
            <a:endParaRPr sz="1600"/>
          </a:p>
          <a:p>
            <a:pPr indent="-241300" lvl="0" marL="342900" rtl="0" algn="l">
              <a:spcBef>
                <a:spcPts val="640"/>
              </a:spcBef>
              <a:spcAft>
                <a:spcPts val="1200"/>
              </a:spcAft>
              <a:buClr>
                <a:schemeClr val="dk1"/>
              </a:buClr>
              <a:buSzPts val="1600"/>
              <a:buChar char="●"/>
            </a:pPr>
            <a:r>
              <a:rPr lang="en-GB" sz="1600">
                <a:solidFill>
                  <a:schemeClr val="dk1"/>
                </a:solidFill>
                <a:latin typeface="Calibri"/>
                <a:ea typeface="Calibri"/>
                <a:cs typeface="Calibri"/>
                <a:sym typeface="Calibri"/>
              </a:rPr>
              <a:t>Goal: Develop a web-based, object-oriented system that provides clear portfolio analytics and intuitive risk simulation.</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System Architecture (OOP Design)</a:t>
            </a:r>
            <a:endParaRPr/>
          </a:p>
        </p:txBody>
      </p:sp>
      <p:sp>
        <p:nvSpPr>
          <p:cNvPr id="75" name="Google Shape;75;p1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Core Components:</a:t>
            </a:r>
            <a:endParaRPr sz="1600"/>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Asset – price data, returns, metadata</a:t>
            </a:r>
            <a:endParaRPr sz="1600"/>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Portfolio – weights, Sharpe, volatility</a:t>
            </a:r>
            <a:endParaRPr sz="1600"/>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RiskSimulator – Monte Carlo, VaR, CVaR</a:t>
            </a:r>
            <a:endParaRPr sz="1600"/>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DataManager – historical/API data</a:t>
            </a:r>
            <a:endParaRPr sz="1600"/>
          </a:p>
          <a:p>
            <a:pPr indent="-273050" lvl="1" marL="74295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Analytics – financial helper functions</a:t>
            </a:r>
            <a:endParaRPr sz="1600"/>
          </a:p>
          <a:p>
            <a:pPr indent="-241300" lvl="0" marL="342900" rtl="0" algn="l">
              <a:spcBef>
                <a:spcPts val="640"/>
              </a:spcBef>
              <a:spcAft>
                <a:spcPts val="1200"/>
              </a:spcAft>
              <a:buClr>
                <a:schemeClr val="dk1"/>
              </a:buClr>
              <a:buSzPts val="1600"/>
              <a:buChar char="●"/>
            </a:pPr>
            <a:r>
              <a:rPr lang="en-GB" sz="1600">
                <a:solidFill>
                  <a:schemeClr val="dk1"/>
                </a:solidFill>
                <a:latin typeface="Calibri"/>
                <a:ea typeface="Calibri"/>
                <a:cs typeface="Calibri"/>
                <a:sym typeface="Calibri"/>
              </a:rPr>
              <a:t>Design Principles: Encapsulation, Reusability, Extensibility</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Technology Stack</a:t>
            </a:r>
            <a:endParaRPr/>
          </a:p>
        </p:txBody>
      </p:sp>
      <p:sp>
        <p:nvSpPr>
          <p:cNvPr id="81" name="Google Shape;81;p17"/>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p>
            <a:pPr indent="-241300" lvl="0" marL="342900" rtl="0" algn="l">
              <a:lnSpc>
                <a:spcPct val="100000"/>
              </a:lnSpc>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Frontend: </a:t>
            </a:r>
            <a:endParaRPr sz="1600">
              <a:solidFill>
                <a:schemeClr val="dk1"/>
              </a:solidFill>
              <a:latin typeface="Calibri"/>
              <a:ea typeface="Calibri"/>
              <a:cs typeface="Calibri"/>
              <a:sym typeface="Calibri"/>
            </a:endParaRPr>
          </a:p>
          <a:p>
            <a:pPr indent="-273050" lvl="1" marL="742950" rtl="0" algn="l">
              <a:lnSpc>
                <a:spcPct val="100000"/>
              </a:lnSpc>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Streamlit for the web interface</a:t>
            </a:r>
            <a:endParaRPr sz="1600">
              <a:solidFill>
                <a:schemeClr val="dk1"/>
              </a:solidFill>
              <a:latin typeface="Calibri"/>
              <a:ea typeface="Calibri"/>
              <a:cs typeface="Calibri"/>
              <a:sym typeface="Calibri"/>
            </a:endParaRPr>
          </a:p>
          <a:p>
            <a:pPr indent="-273050" lvl="1" marL="742950" rtl="0" algn="l">
              <a:lnSpc>
                <a:spcPct val="100000"/>
              </a:lnSpc>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Plotly for interactive charts and visualizations</a:t>
            </a:r>
            <a:endParaRPr sz="1600"/>
          </a:p>
          <a:p>
            <a:pPr indent="-241300" lvl="0" marL="342900" rtl="0" algn="l">
              <a:lnSpc>
                <a:spcPct val="100000"/>
              </a:lnSpc>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Backend:</a:t>
            </a:r>
            <a:endParaRPr sz="1600">
              <a:solidFill>
                <a:schemeClr val="dk1"/>
              </a:solidFill>
              <a:latin typeface="Calibri"/>
              <a:ea typeface="Calibri"/>
              <a:cs typeface="Calibri"/>
              <a:sym typeface="Calibri"/>
            </a:endParaRPr>
          </a:p>
          <a:p>
            <a:pPr indent="-273050" lvl="1" marL="742950" rtl="0" algn="l">
              <a:lnSpc>
                <a:spcPct val="100000"/>
              </a:lnSpc>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Python with an OOP architecture</a:t>
            </a:r>
            <a:endParaRPr sz="1600">
              <a:solidFill>
                <a:schemeClr val="dk1"/>
              </a:solidFill>
              <a:latin typeface="Calibri"/>
              <a:ea typeface="Calibri"/>
              <a:cs typeface="Calibri"/>
              <a:sym typeface="Calibri"/>
            </a:endParaRPr>
          </a:p>
          <a:p>
            <a:pPr indent="-273050" lvl="1" marL="742950" rtl="0" algn="l">
              <a:lnSpc>
                <a:spcPct val="100000"/>
              </a:lnSpc>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Pandas for data handling and portfolio calculations</a:t>
            </a:r>
            <a:endParaRPr sz="1600">
              <a:solidFill>
                <a:schemeClr val="dk1"/>
              </a:solidFill>
              <a:latin typeface="Calibri"/>
              <a:ea typeface="Calibri"/>
              <a:cs typeface="Calibri"/>
              <a:sym typeface="Calibri"/>
            </a:endParaRPr>
          </a:p>
          <a:p>
            <a:pPr indent="-273050" lvl="1" marL="742950" rtl="0" algn="l">
              <a:lnSpc>
                <a:spcPct val="100000"/>
              </a:lnSpc>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NumPy for fast numerical operations</a:t>
            </a:r>
            <a:endParaRPr sz="1600"/>
          </a:p>
          <a:p>
            <a:pPr indent="-241300" lvl="0" marL="342900" rtl="0" algn="l">
              <a:lnSpc>
                <a:spcPct val="100000"/>
              </a:lnSpc>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Risk Modeling: </a:t>
            </a:r>
            <a:endParaRPr sz="1600">
              <a:solidFill>
                <a:schemeClr val="dk1"/>
              </a:solidFill>
              <a:latin typeface="Calibri"/>
              <a:ea typeface="Calibri"/>
              <a:cs typeface="Calibri"/>
              <a:sym typeface="Calibri"/>
            </a:endParaRPr>
          </a:p>
          <a:p>
            <a:pPr indent="-273050" lvl="1" marL="742950" rtl="0" algn="l">
              <a:lnSpc>
                <a:spcPct val="100000"/>
              </a:lnSpc>
              <a:spcBef>
                <a:spcPts val="1200"/>
              </a:spcBef>
              <a:spcAft>
                <a:spcPts val="0"/>
              </a:spcAft>
              <a:buClr>
                <a:schemeClr val="dk1"/>
              </a:buClr>
              <a:buSzPts val="1600"/>
              <a:buChar char="○"/>
            </a:pPr>
            <a:r>
              <a:rPr lang="en-GB" sz="1600">
                <a:solidFill>
                  <a:schemeClr val="dk1"/>
                </a:solidFill>
                <a:latin typeface="Calibri"/>
                <a:ea typeface="Calibri"/>
                <a:cs typeface="Calibri"/>
                <a:sym typeface="Calibri"/>
              </a:rPr>
              <a:t>Monte Carlo simulation engine (3,400+ runs)</a:t>
            </a:r>
            <a:endParaRPr sz="1600">
              <a:solidFill>
                <a:schemeClr val="dk1"/>
              </a:solidFill>
              <a:latin typeface="Calibri"/>
              <a:ea typeface="Calibri"/>
              <a:cs typeface="Calibri"/>
              <a:sym typeface="Calibri"/>
            </a:endParaRPr>
          </a:p>
          <a:p>
            <a:pPr indent="-273050" lvl="1" marL="742950" rtl="0" algn="l">
              <a:lnSpc>
                <a:spcPct val="100000"/>
              </a:lnSpc>
              <a:spcBef>
                <a:spcPts val="1200"/>
              </a:spcBef>
              <a:spcAft>
                <a:spcPts val="0"/>
              </a:spcAft>
              <a:buClr>
                <a:schemeClr val="dk1"/>
              </a:buClr>
              <a:buSzPts val="1600"/>
              <a:buChar char="○"/>
            </a:pPr>
            <a:r>
              <a:rPr lang="en-GB" sz="1600">
                <a:solidFill>
                  <a:schemeClr val="dk1"/>
                </a:solidFill>
                <a:latin typeface="Calibri"/>
                <a:ea typeface="Calibri"/>
                <a:cs typeface="Calibri"/>
                <a:sym typeface="Calibri"/>
              </a:rPr>
              <a:t>Value at Risk (VaR) and Conditional VaR (CVaR)</a:t>
            </a:r>
            <a:endParaRPr sz="1600">
              <a:solidFill>
                <a:schemeClr val="dk1"/>
              </a:solidFill>
              <a:latin typeface="Calibri"/>
              <a:ea typeface="Calibri"/>
              <a:cs typeface="Calibri"/>
              <a:sym typeface="Calibri"/>
            </a:endParaRPr>
          </a:p>
          <a:p>
            <a:pPr indent="-273050" lvl="1" marL="742950" rtl="0" algn="l">
              <a:lnSpc>
                <a:spcPct val="100000"/>
              </a:lnSpc>
              <a:spcBef>
                <a:spcPts val="1200"/>
              </a:spcBef>
              <a:spcAft>
                <a:spcPts val="1200"/>
              </a:spcAft>
              <a:buClr>
                <a:schemeClr val="dk1"/>
              </a:buClr>
              <a:buSzPts val="1600"/>
              <a:buChar char="○"/>
            </a:pPr>
            <a:r>
              <a:rPr lang="en-GB" sz="1600">
                <a:solidFill>
                  <a:schemeClr val="dk1"/>
                </a:solidFill>
                <a:latin typeface="Calibri"/>
                <a:ea typeface="Calibri"/>
                <a:cs typeface="Calibri"/>
                <a:sym typeface="Calibri"/>
              </a:rPr>
              <a:t>Stress testing for extreme market scenarios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Portfolio Overview (Final Results)</a:t>
            </a:r>
            <a:endParaRPr/>
          </a:p>
        </p:txBody>
      </p:sp>
      <p:sp>
        <p:nvSpPr>
          <p:cNvPr id="87" name="Google Shape;87;p18"/>
          <p:cNvSpPr txBox="1"/>
          <p:nvPr>
            <p:ph idx="1" type="body"/>
          </p:nvPr>
        </p:nvSpPr>
        <p:spPr>
          <a:xfrm>
            <a:off x="457200" y="1200150"/>
            <a:ext cx="4884000" cy="3394500"/>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Portfolio Value: $73,300</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Profit: +$3,422 (4.9%)</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Assets: VTI, VXUS, XLK, VIG, IEF</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Fully diversified ETF portfolio</a:t>
            </a:r>
            <a:endParaRPr sz="1600"/>
          </a:p>
          <a:p>
            <a:pPr indent="0" lvl="0" marL="342900" rtl="0" algn="l">
              <a:spcBef>
                <a:spcPts val="640"/>
              </a:spcBef>
              <a:spcAft>
                <a:spcPts val="1200"/>
              </a:spcAft>
              <a:buNone/>
            </a:pPr>
            <a:r>
              <a:t/>
            </a:r>
            <a:endParaRPr sz="1600"/>
          </a:p>
        </p:txBody>
      </p:sp>
      <p:pic>
        <p:nvPicPr>
          <p:cNvPr id="88" name="Google Shape;88;p18"/>
          <p:cNvPicPr preferRelativeResize="0"/>
          <p:nvPr/>
        </p:nvPicPr>
        <p:blipFill>
          <a:blip r:embed="rId3">
            <a:alphaModFix/>
          </a:blip>
          <a:stretch>
            <a:fillRect/>
          </a:stretch>
        </p:blipFill>
        <p:spPr>
          <a:xfrm>
            <a:off x="4164351" y="1200150"/>
            <a:ext cx="4212525" cy="3102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Performance Results</a:t>
            </a:r>
            <a:endParaRPr/>
          </a:p>
        </p:txBody>
      </p:sp>
      <p:sp>
        <p:nvSpPr>
          <p:cNvPr id="94" name="Google Shape;94;p19"/>
          <p:cNvSpPr txBox="1"/>
          <p:nvPr>
            <p:ph idx="1" type="body"/>
          </p:nvPr>
        </p:nvSpPr>
        <p:spPr>
          <a:xfrm>
            <a:off x="457200" y="1200150"/>
            <a:ext cx="5300100" cy="2370900"/>
          </a:xfrm>
          <a:prstGeom prst="rect">
            <a:avLst/>
          </a:prstGeom>
          <a:noFill/>
          <a:ln>
            <a:noFill/>
          </a:ln>
        </p:spPr>
        <p:txBody>
          <a:bodyPr anchorCtr="0" anchor="t" bIns="45700" lIns="91425" spcFirstLastPara="1" rIns="91425" wrap="square" tIns="45700">
            <a:no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Total Return: 11.88%</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Annualized Return: 12.54%</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Volatility: 15.43%</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Max Drawdown: –15.27%</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Sharpe: 0.54 | Sortino: 0.89</a:t>
            </a:r>
            <a:endParaRPr sz="1600">
              <a:solidFill>
                <a:schemeClr val="dk1"/>
              </a:solidFill>
              <a:latin typeface="Calibri"/>
              <a:ea typeface="Calibri"/>
              <a:cs typeface="Calibri"/>
              <a:sym typeface="Calibri"/>
            </a:endParaRPr>
          </a:p>
          <a:p>
            <a:pPr indent="0" lvl="0" marL="0" rtl="0" algn="l">
              <a:spcBef>
                <a:spcPts val="640"/>
              </a:spcBef>
              <a:spcAft>
                <a:spcPts val="0"/>
              </a:spcAft>
              <a:buNone/>
            </a:pPr>
            <a:r>
              <a:rPr lang="en-GB" sz="1600">
                <a:solidFill>
                  <a:schemeClr val="dk1"/>
                </a:solidFill>
                <a:latin typeface="Calibri"/>
                <a:ea typeface="Calibri"/>
                <a:cs typeface="Calibri"/>
                <a:sym typeface="Calibri"/>
              </a:rPr>
              <a:t>Interpretation: Healthy portfolio with moderate volatility.</a:t>
            </a:r>
            <a:endParaRPr sz="1600">
              <a:solidFill>
                <a:schemeClr val="dk1"/>
              </a:solidFill>
              <a:latin typeface="Calibri"/>
              <a:ea typeface="Calibri"/>
              <a:cs typeface="Calibri"/>
              <a:sym typeface="Calibri"/>
            </a:endParaRPr>
          </a:p>
          <a:p>
            <a:pPr indent="0" lvl="0" marL="0" rtl="0" algn="l">
              <a:spcBef>
                <a:spcPts val="640"/>
              </a:spcBef>
              <a:spcAft>
                <a:spcPts val="0"/>
              </a:spcAft>
              <a:buNone/>
            </a:pPr>
            <a:r>
              <a:t/>
            </a:r>
            <a:endParaRPr sz="1600"/>
          </a:p>
          <a:p>
            <a:pPr indent="0" lvl="0" marL="0" rtl="0" algn="l">
              <a:spcBef>
                <a:spcPts val="640"/>
              </a:spcBef>
              <a:spcAft>
                <a:spcPts val="1200"/>
              </a:spcAft>
              <a:buNone/>
            </a:pPr>
            <a:r>
              <a:t/>
            </a:r>
            <a:endParaRPr sz="1600"/>
          </a:p>
        </p:txBody>
      </p:sp>
      <p:pic>
        <p:nvPicPr>
          <p:cNvPr id="95" name="Google Shape;95;p19"/>
          <p:cNvPicPr preferRelativeResize="0"/>
          <p:nvPr/>
        </p:nvPicPr>
        <p:blipFill>
          <a:blip r:embed="rId3">
            <a:alphaModFix/>
          </a:blip>
          <a:stretch>
            <a:fillRect/>
          </a:stretch>
        </p:blipFill>
        <p:spPr>
          <a:xfrm>
            <a:off x="5962325" y="1009450"/>
            <a:ext cx="2513125" cy="2433926"/>
          </a:xfrm>
          <a:prstGeom prst="rect">
            <a:avLst/>
          </a:prstGeom>
          <a:noFill/>
          <a:ln>
            <a:noFill/>
          </a:ln>
        </p:spPr>
      </p:pic>
      <p:pic>
        <p:nvPicPr>
          <p:cNvPr id="96" name="Google Shape;96;p19"/>
          <p:cNvPicPr preferRelativeResize="0"/>
          <p:nvPr/>
        </p:nvPicPr>
        <p:blipFill>
          <a:blip r:embed="rId4">
            <a:alphaModFix/>
          </a:blip>
          <a:stretch>
            <a:fillRect/>
          </a:stretch>
        </p:blipFill>
        <p:spPr>
          <a:xfrm>
            <a:off x="337750" y="3763775"/>
            <a:ext cx="4780400" cy="126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Monte Carlo Simulation Results</a:t>
            </a:r>
            <a:endParaRPr/>
          </a:p>
        </p:txBody>
      </p:sp>
      <p:sp>
        <p:nvSpPr>
          <p:cNvPr id="102" name="Google Shape;102;p20"/>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Expected Return: 28.49%</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Volatility: 2.76%</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95% VaR: –24.16%</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95% CVaR: –23.13%</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Stress Tests:</a:t>
            </a:r>
            <a:endParaRPr sz="1600"/>
          </a:p>
          <a:p>
            <a:pPr indent="0" lvl="0" marL="342900" rtl="0" algn="l">
              <a:spcBef>
                <a:spcPts val="640"/>
              </a:spcBef>
              <a:spcAft>
                <a:spcPts val="0"/>
              </a:spcAft>
              <a:buNone/>
            </a:pPr>
            <a:r>
              <a:rPr lang="en-GB" sz="1600">
                <a:solidFill>
                  <a:schemeClr val="dk1"/>
                </a:solidFill>
                <a:latin typeface="Calibri"/>
                <a:ea typeface="Calibri"/>
                <a:cs typeface="Calibri"/>
                <a:sym typeface="Calibri"/>
              </a:rPr>
              <a:t>Market Crash: –$21,990</a:t>
            </a:r>
            <a:endParaRPr sz="1600"/>
          </a:p>
          <a:p>
            <a:pPr indent="0" lvl="0" marL="342900" rtl="0" algn="l">
              <a:spcBef>
                <a:spcPts val="640"/>
              </a:spcBef>
              <a:spcAft>
                <a:spcPts val="0"/>
              </a:spcAft>
              <a:buNone/>
            </a:pPr>
            <a:r>
              <a:rPr lang="en-GB" sz="1600">
                <a:solidFill>
                  <a:schemeClr val="dk1"/>
                </a:solidFill>
                <a:latin typeface="Calibri"/>
                <a:ea typeface="Calibri"/>
                <a:cs typeface="Calibri"/>
                <a:sym typeface="Calibri"/>
              </a:rPr>
              <a:t>Mild Recession: –$10,995</a:t>
            </a:r>
            <a:endParaRPr sz="1600"/>
          </a:p>
          <a:p>
            <a:pPr indent="0" lvl="0" marL="342900" rtl="0" algn="l">
              <a:spcBef>
                <a:spcPts val="640"/>
              </a:spcBef>
              <a:spcAft>
                <a:spcPts val="0"/>
              </a:spcAft>
              <a:buNone/>
            </a:pPr>
            <a:r>
              <a:rPr lang="en-GB" sz="1600">
                <a:solidFill>
                  <a:schemeClr val="dk1"/>
                </a:solidFill>
                <a:latin typeface="Calibri"/>
                <a:ea typeface="Calibri"/>
                <a:cs typeface="Calibri"/>
                <a:sym typeface="Calibri"/>
              </a:rPr>
              <a:t>Rate Hike: –$3,665</a:t>
            </a:r>
            <a:endParaRPr sz="1600"/>
          </a:p>
          <a:p>
            <a:pPr indent="0" lvl="0" marL="0" rtl="0" algn="l">
              <a:spcBef>
                <a:spcPts val="640"/>
              </a:spcBef>
              <a:spcAft>
                <a:spcPts val="1200"/>
              </a:spcAft>
              <a:buNone/>
            </a:pPr>
            <a:r>
              <a:t/>
            </a:r>
            <a:endParaRPr sz="1600"/>
          </a:p>
        </p:txBody>
      </p:sp>
      <p:pic>
        <p:nvPicPr>
          <p:cNvPr id="103" name="Google Shape;103;p20"/>
          <p:cNvPicPr preferRelativeResize="0"/>
          <p:nvPr/>
        </p:nvPicPr>
        <p:blipFill>
          <a:blip r:embed="rId3">
            <a:alphaModFix/>
          </a:blip>
          <a:stretch>
            <a:fillRect/>
          </a:stretch>
        </p:blipFill>
        <p:spPr>
          <a:xfrm>
            <a:off x="4220301" y="1200149"/>
            <a:ext cx="4710649" cy="1803500"/>
          </a:xfrm>
          <a:prstGeom prst="rect">
            <a:avLst/>
          </a:prstGeom>
          <a:noFill/>
          <a:ln>
            <a:noFill/>
          </a:ln>
        </p:spPr>
      </p:pic>
      <p:pic>
        <p:nvPicPr>
          <p:cNvPr id="104" name="Google Shape;104;p20"/>
          <p:cNvPicPr preferRelativeResize="0"/>
          <p:nvPr/>
        </p:nvPicPr>
        <p:blipFill>
          <a:blip r:embed="rId4">
            <a:alphaModFix/>
          </a:blip>
          <a:stretch>
            <a:fillRect/>
          </a:stretch>
        </p:blipFill>
        <p:spPr>
          <a:xfrm>
            <a:off x="5188923" y="3205900"/>
            <a:ext cx="3079224" cy="1760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GB"/>
              <a:t>Efficient Frontier</a:t>
            </a:r>
            <a:endParaRPr/>
          </a:p>
        </p:txBody>
      </p:sp>
      <p:sp>
        <p:nvSpPr>
          <p:cNvPr id="110" name="Google Shape;110;p21"/>
          <p:cNvSpPr txBox="1"/>
          <p:nvPr>
            <p:ph idx="1" type="body"/>
          </p:nvPr>
        </p:nvSpPr>
        <p:spPr>
          <a:xfrm>
            <a:off x="457200" y="1200150"/>
            <a:ext cx="40251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GB" sz="1600">
                <a:solidFill>
                  <a:schemeClr val="dk1"/>
                </a:solidFill>
                <a:latin typeface="Calibri"/>
                <a:ea typeface="Calibri"/>
                <a:cs typeface="Calibri"/>
                <a:sym typeface="Calibri"/>
              </a:rPr>
              <a:t>We are able to see the </a:t>
            </a:r>
            <a:r>
              <a:rPr lang="en-GB" sz="1600">
                <a:solidFill>
                  <a:schemeClr val="dk1"/>
                </a:solidFill>
                <a:latin typeface="Calibri"/>
                <a:ea typeface="Calibri"/>
                <a:cs typeface="Calibri"/>
                <a:sym typeface="Calibri"/>
              </a:rPr>
              <a:t>efficient</a:t>
            </a:r>
            <a:r>
              <a:rPr lang="en-GB" sz="1600">
                <a:solidFill>
                  <a:schemeClr val="dk1"/>
                </a:solidFill>
                <a:latin typeface="Calibri"/>
                <a:ea typeface="Calibri"/>
                <a:cs typeface="Calibri"/>
                <a:sym typeface="Calibri"/>
              </a:rPr>
              <a:t> frontier </a:t>
            </a:r>
            <a:endParaRPr sz="1600">
              <a:solidFill>
                <a:schemeClr val="dk1"/>
              </a:solidFill>
              <a:latin typeface="Calibri"/>
              <a:ea typeface="Calibri"/>
              <a:cs typeface="Calibri"/>
              <a:sym typeface="Calibri"/>
            </a:endParaRPr>
          </a:p>
          <a:p>
            <a:pPr indent="-330200" lvl="0" marL="457200" rtl="0" algn="l">
              <a:spcBef>
                <a:spcPts val="1200"/>
              </a:spcBef>
              <a:spcAft>
                <a:spcPts val="0"/>
              </a:spcAft>
              <a:buSzPts val="1600"/>
              <a:buFont typeface="Calibri"/>
              <a:buChar char="●"/>
            </a:pPr>
            <a:r>
              <a:rPr lang="en-GB" sz="1600">
                <a:solidFill>
                  <a:schemeClr val="dk1"/>
                </a:solidFill>
                <a:latin typeface="Calibri"/>
                <a:ea typeface="Calibri"/>
                <a:cs typeface="Calibri"/>
                <a:sym typeface="Calibri"/>
              </a:rPr>
              <a:t>Better Volatility - 16.25% -&gt; 10.10%</a:t>
            </a:r>
            <a:endParaRPr sz="1600">
              <a:solidFill>
                <a:schemeClr val="dk1"/>
              </a:solidFill>
              <a:latin typeface="Calibri"/>
              <a:ea typeface="Calibri"/>
              <a:cs typeface="Calibri"/>
              <a:sym typeface="Calibri"/>
            </a:endParaRPr>
          </a:p>
          <a:p>
            <a:pPr indent="-330200" lvl="0" marL="457200" rtl="0" algn="l">
              <a:spcBef>
                <a:spcPts val="0"/>
              </a:spcBef>
              <a:spcAft>
                <a:spcPts val="0"/>
              </a:spcAft>
              <a:buSzPts val="1600"/>
              <a:buFont typeface="Calibri"/>
              <a:buChar char="●"/>
            </a:pPr>
            <a:r>
              <a:rPr lang="en-GB" sz="1600">
                <a:solidFill>
                  <a:schemeClr val="dk1"/>
                </a:solidFill>
                <a:latin typeface="Calibri"/>
                <a:ea typeface="Calibri"/>
                <a:cs typeface="Calibri"/>
                <a:sym typeface="Calibri"/>
              </a:rPr>
              <a:t>Better Sharpe Ratio - 0.85 -&gt; 1.25</a:t>
            </a:r>
            <a:endParaRPr sz="1600">
              <a:solidFill>
                <a:schemeClr val="dk1"/>
              </a:solidFill>
              <a:latin typeface="Calibri"/>
              <a:ea typeface="Calibri"/>
              <a:cs typeface="Calibri"/>
              <a:sym typeface="Calibri"/>
            </a:endParaRPr>
          </a:p>
          <a:p>
            <a:pPr indent="0" lvl="0" marL="0" rtl="0" algn="l">
              <a:spcBef>
                <a:spcPts val="1200"/>
              </a:spcBef>
              <a:spcAft>
                <a:spcPts val="1200"/>
              </a:spcAft>
              <a:buNone/>
            </a:pPr>
            <a:r>
              <a:t/>
            </a:r>
            <a:endParaRPr sz="1600">
              <a:solidFill>
                <a:schemeClr val="dk1"/>
              </a:solidFill>
              <a:latin typeface="Calibri"/>
              <a:ea typeface="Calibri"/>
              <a:cs typeface="Calibri"/>
              <a:sym typeface="Calibri"/>
            </a:endParaRPr>
          </a:p>
        </p:txBody>
      </p:sp>
      <p:pic>
        <p:nvPicPr>
          <p:cNvPr id="111" name="Google Shape;111;p21"/>
          <p:cNvPicPr preferRelativeResize="0"/>
          <p:nvPr/>
        </p:nvPicPr>
        <p:blipFill>
          <a:blip r:embed="rId3">
            <a:alphaModFix/>
          </a:blip>
          <a:stretch>
            <a:fillRect/>
          </a:stretch>
        </p:blipFill>
        <p:spPr>
          <a:xfrm>
            <a:off x="4661749" y="1030837"/>
            <a:ext cx="4025051" cy="3733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457200" y="3"/>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GB"/>
              <a:t>Prophet</a:t>
            </a:r>
            <a:r>
              <a:rPr lang="en-GB"/>
              <a:t> based Portfolio </a:t>
            </a:r>
            <a:endParaRPr/>
          </a:p>
        </p:txBody>
      </p:sp>
      <p:sp>
        <p:nvSpPr>
          <p:cNvPr id="117" name="Google Shape;117;p22"/>
          <p:cNvSpPr txBox="1"/>
          <p:nvPr>
            <p:ph idx="1" type="body"/>
          </p:nvPr>
        </p:nvSpPr>
        <p:spPr>
          <a:xfrm>
            <a:off x="181325" y="746900"/>
            <a:ext cx="3297000" cy="33945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Font typeface="Calibri"/>
              <a:buChar char="●"/>
            </a:pPr>
            <a:r>
              <a:rPr lang="en-GB">
                <a:solidFill>
                  <a:schemeClr val="dk1"/>
                </a:solidFill>
                <a:latin typeface="Calibri"/>
                <a:ea typeface="Calibri"/>
                <a:cs typeface="Calibri"/>
                <a:sym typeface="Calibri"/>
              </a:rPr>
              <a:t>Portfolio Value </a:t>
            </a:r>
            <a:endParaRPr>
              <a:solidFill>
                <a:schemeClr val="dk1"/>
              </a:solidFill>
              <a:latin typeface="Calibri"/>
              <a:ea typeface="Calibri"/>
              <a:cs typeface="Calibri"/>
              <a:sym typeface="Calibri"/>
            </a:endParaRPr>
          </a:p>
          <a:p>
            <a:pPr indent="-342900" lvl="1" marL="914400" rtl="0" algn="l">
              <a:spcBef>
                <a:spcPts val="0"/>
              </a:spcBef>
              <a:spcAft>
                <a:spcPts val="0"/>
              </a:spcAft>
              <a:buSzPts val="1800"/>
              <a:buFont typeface="Calibri"/>
              <a:buChar char="○"/>
            </a:pPr>
            <a:r>
              <a:rPr lang="en-GB">
                <a:solidFill>
                  <a:schemeClr val="dk1"/>
                </a:solidFill>
                <a:latin typeface="Calibri"/>
                <a:ea typeface="Calibri"/>
                <a:cs typeface="Calibri"/>
                <a:sym typeface="Calibri"/>
              </a:rPr>
              <a:t>Current Portfolio Value - $33,756.00</a:t>
            </a:r>
            <a:endParaRPr>
              <a:solidFill>
                <a:schemeClr val="dk1"/>
              </a:solidFill>
              <a:latin typeface="Calibri"/>
              <a:ea typeface="Calibri"/>
              <a:cs typeface="Calibri"/>
              <a:sym typeface="Calibri"/>
            </a:endParaRPr>
          </a:p>
          <a:p>
            <a:pPr indent="-342900" lvl="1" marL="914400" rtl="0" algn="l">
              <a:spcBef>
                <a:spcPts val="0"/>
              </a:spcBef>
              <a:spcAft>
                <a:spcPts val="0"/>
              </a:spcAft>
              <a:buSzPts val="1800"/>
              <a:buFont typeface="Calibri"/>
              <a:buChar char="○"/>
            </a:pPr>
            <a:r>
              <a:rPr lang="en-GB">
                <a:solidFill>
                  <a:schemeClr val="dk1"/>
                </a:solidFill>
                <a:latin typeface="Calibri"/>
                <a:ea typeface="Calibri"/>
                <a:cs typeface="Calibri"/>
                <a:sym typeface="Calibri"/>
              </a:rPr>
              <a:t>Forecasted Value in 90 days - $33,794.31</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latin typeface="Calibri"/>
              <a:ea typeface="Calibri"/>
              <a:cs typeface="Calibri"/>
              <a:sym typeface="Calibri"/>
            </a:endParaRPr>
          </a:p>
        </p:txBody>
      </p:sp>
      <p:pic>
        <p:nvPicPr>
          <p:cNvPr id="118" name="Google Shape;118;p22"/>
          <p:cNvPicPr preferRelativeResize="0"/>
          <p:nvPr/>
        </p:nvPicPr>
        <p:blipFill>
          <a:blip r:embed="rId3">
            <a:alphaModFix/>
          </a:blip>
          <a:stretch>
            <a:fillRect/>
          </a:stretch>
        </p:blipFill>
        <p:spPr>
          <a:xfrm>
            <a:off x="3980775" y="1063374"/>
            <a:ext cx="4946424" cy="2180650"/>
          </a:xfrm>
          <a:prstGeom prst="rect">
            <a:avLst/>
          </a:prstGeom>
          <a:noFill/>
          <a:ln>
            <a:noFill/>
          </a:ln>
        </p:spPr>
      </p:pic>
      <p:pic>
        <p:nvPicPr>
          <p:cNvPr id="119" name="Google Shape;119;p22"/>
          <p:cNvPicPr preferRelativeResize="0"/>
          <p:nvPr/>
        </p:nvPicPr>
        <p:blipFill>
          <a:blip r:embed="rId4">
            <a:alphaModFix/>
          </a:blip>
          <a:stretch>
            <a:fillRect/>
          </a:stretch>
        </p:blipFill>
        <p:spPr>
          <a:xfrm>
            <a:off x="947450" y="2966850"/>
            <a:ext cx="2688875" cy="1841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Comparison With Literature</a:t>
            </a:r>
            <a:endParaRPr/>
          </a:p>
        </p:txBody>
      </p:sp>
      <p:sp>
        <p:nvSpPr>
          <p:cNvPr id="125" name="Google Shape;125;p2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241300" lvl="0" marL="342900" rtl="0" algn="l">
              <a:spcBef>
                <a:spcPts val="0"/>
              </a:spcBef>
              <a:spcAft>
                <a:spcPts val="0"/>
              </a:spcAft>
              <a:buClr>
                <a:schemeClr val="dk1"/>
              </a:buClr>
              <a:buSzPts val="1600"/>
              <a:buChar char="●"/>
            </a:pPr>
            <a:r>
              <a:rPr lang="en-GB" sz="1600">
                <a:solidFill>
                  <a:schemeClr val="dk1"/>
                </a:solidFill>
                <a:latin typeface="Calibri"/>
                <a:ea typeface="Calibri"/>
                <a:cs typeface="Calibri"/>
                <a:sym typeface="Calibri"/>
              </a:rPr>
              <a:t>Return distribution matches Hull’s VaR models</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Drawdowns align with ETF studies</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Diversification impact consistent with Markowitz MPT</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VaR comparable to Jorion’s research</a:t>
            </a:r>
            <a:endParaRPr sz="1600"/>
          </a:p>
          <a:p>
            <a:pPr indent="-241300" lvl="0" marL="342900" rtl="0" algn="l">
              <a:spcBef>
                <a:spcPts val="640"/>
              </a:spcBef>
              <a:spcAft>
                <a:spcPts val="1200"/>
              </a:spcAft>
              <a:buClr>
                <a:schemeClr val="dk1"/>
              </a:buClr>
              <a:buSzPts val="1600"/>
              <a:buChar char="●"/>
            </a:pPr>
            <a:r>
              <a:rPr lang="en-GB" sz="1600">
                <a:solidFill>
                  <a:schemeClr val="dk1"/>
                </a:solidFill>
                <a:latin typeface="Calibri"/>
                <a:ea typeface="Calibri"/>
                <a:cs typeface="Calibri"/>
                <a:sym typeface="Calibri"/>
              </a:rPr>
              <a:t>Conclusion: Model behaves similar to theory + empirical finance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solidFill>
                  <a:schemeClr val="dk1"/>
                </a:solidFill>
                <a:latin typeface="Calibri"/>
                <a:ea typeface="Calibri"/>
                <a:cs typeface="Calibri"/>
                <a:sym typeface="Calibri"/>
              </a:rPr>
              <a:t>Limitations</a:t>
            </a:r>
            <a:endParaRPr/>
          </a:p>
        </p:txBody>
      </p:sp>
      <p:sp>
        <p:nvSpPr>
          <p:cNvPr id="131" name="Google Shape;131;p2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Normal distribution assumption</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Fully historical-data-dependent</a:t>
            </a:r>
            <a:endParaRPr sz="1600"/>
          </a:p>
          <a:p>
            <a:pPr indent="-241300" lvl="0" marL="342900" rtl="0" algn="l">
              <a:spcBef>
                <a:spcPts val="640"/>
              </a:spcBef>
              <a:spcAft>
                <a:spcPts val="0"/>
              </a:spcAft>
              <a:buClr>
                <a:schemeClr val="dk1"/>
              </a:buClr>
              <a:buSzPts val="1600"/>
              <a:buChar char="●"/>
            </a:pPr>
            <a:r>
              <a:rPr lang="en-GB" sz="1600">
                <a:solidFill>
                  <a:schemeClr val="dk1"/>
                </a:solidFill>
                <a:latin typeface="Calibri"/>
                <a:ea typeface="Calibri"/>
                <a:cs typeface="Calibri"/>
                <a:sym typeface="Calibri"/>
              </a:rPr>
              <a:t>Linear stress tests</a:t>
            </a:r>
            <a:endParaRPr sz="1600">
              <a:solidFill>
                <a:schemeClr val="dk1"/>
              </a:solidFill>
              <a:latin typeface="Calibri"/>
              <a:ea typeface="Calibri"/>
              <a:cs typeface="Calibri"/>
              <a:sym typeface="Calibri"/>
            </a:endParaRPr>
          </a:p>
          <a:p>
            <a:pPr indent="-241300" lvl="0" marL="342900" rtl="0" algn="l">
              <a:spcBef>
                <a:spcPts val="640"/>
              </a:spcBef>
              <a:spcAft>
                <a:spcPts val="0"/>
              </a:spcAft>
              <a:buClr>
                <a:schemeClr val="dk1"/>
              </a:buClr>
              <a:buSzPts val="1600"/>
              <a:buFont typeface="Calibri"/>
              <a:buChar char="●"/>
            </a:pPr>
            <a:r>
              <a:rPr lang="en-GB" sz="1600">
                <a:solidFill>
                  <a:schemeClr val="dk1"/>
                </a:solidFill>
                <a:latin typeface="Calibri"/>
                <a:ea typeface="Calibri"/>
                <a:cs typeface="Calibri"/>
                <a:sym typeface="Calibri"/>
              </a:rPr>
              <a:t>Not that great UI</a:t>
            </a:r>
            <a:endParaRPr sz="1600">
              <a:solidFill>
                <a:schemeClr val="dk1"/>
              </a:solidFill>
              <a:latin typeface="Calibri"/>
              <a:ea typeface="Calibri"/>
              <a:cs typeface="Calibri"/>
              <a:sym typeface="Calibri"/>
            </a:endParaRPr>
          </a:p>
          <a:p>
            <a:pPr indent="-241300" lvl="0" marL="342900" rtl="0" algn="l">
              <a:spcBef>
                <a:spcPts val="640"/>
              </a:spcBef>
              <a:spcAft>
                <a:spcPts val="1200"/>
              </a:spcAft>
              <a:buClr>
                <a:schemeClr val="dk1"/>
              </a:buClr>
              <a:buSzPts val="1600"/>
              <a:buChar char="●"/>
            </a:pPr>
            <a:r>
              <a:rPr lang="en-GB" sz="1600">
                <a:solidFill>
                  <a:schemeClr val="dk1"/>
                </a:solidFill>
                <a:latin typeface="Calibri"/>
                <a:ea typeface="Calibri"/>
                <a:cs typeface="Calibri"/>
                <a:sym typeface="Calibri"/>
              </a:rPr>
              <a:t>Impact: Reduced precision under extreme conditions (lack of black swan data)</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GB" sz="4400">
                <a:solidFill>
                  <a:schemeClr val="dk1"/>
                </a:solidFill>
                <a:latin typeface="Calibri"/>
                <a:ea typeface="Calibri"/>
                <a:cs typeface="Calibri"/>
                <a:sym typeface="Calibri"/>
              </a:rPr>
              <a:t>Future Enhancements &amp; Conclusion</a:t>
            </a:r>
            <a:endParaRPr/>
          </a:p>
        </p:txBody>
      </p:sp>
      <p:sp>
        <p:nvSpPr>
          <p:cNvPr id="137" name="Google Shape;137;p2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fontScale="85000" lnSpcReduction="20000"/>
          </a:bodyPr>
          <a:lstStyle/>
          <a:p>
            <a:pPr indent="-234156" lvl="0" marL="342900" rtl="0" algn="l">
              <a:spcBef>
                <a:spcPts val="0"/>
              </a:spcBef>
              <a:spcAft>
                <a:spcPts val="0"/>
              </a:spcAft>
              <a:buClr>
                <a:schemeClr val="dk1"/>
              </a:buClr>
              <a:buSzPct val="100000"/>
              <a:buChar char="●"/>
            </a:pPr>
            <a:r>
              <a:rPr lang="en-GB" sz="1750">
                <a:solidFill>
                  <a:schemeClr val="dk1"/>
                </a:solidFill>
                <a:latin typeface="Calibri"/>
                <a:ea typeface="Calibri"/>
                <a:cs typeface="Calibri"/>
                <a:sym typeface="Calibri"/>
              </a:rPr>
              <a:t>Next Steps:</a:t>
            </a:r>
            <a:endParaRPr sz="1750"/>
          </a:p>
          <a:p>
            <a:pPr indent="-265906" lvl="1" marL="742950" rtl="0" algn="l">
              <a:spcBef>
                <a:spcPts val="0"/>
              </a:spcBef>
              <a:spcAft>
                <a:spcPts val="0"/>
              </a:spcAft>
              <a:buClr>
                <a:schemeClr val="dk1"/>
              </a:buClr>
              <a:buSzPct val="100000"/>
              <a:buChar char="○"/>
            </a:pPr>
            <a:r>
              <a:rPr lang="en-GB" sz="1750">
                <a:solidFill>
                  <a:schemeClr val="dk1"/>
                </a:solidFill>
                <a:latin typeface="Calibri"/>
                <a:ea typeface="Calibri"/>
                <a:cs typeface="Calibri"/>
                <a:sym typeface="Calibri"/>
              </a:rPr>
              <a:t>Fat‑tailed models (Student‑t, EVT) </a:t>
            </a:r>
            <a:r>
              <a:rPr lang="en-GB" sz="1750">
                <a:solidFill>
                  <a:schemeClr val="dk1"/>
                </a:solidFill>
                <a:latin typeface="Calibri"/>
                <a:ea typeface="Calibri"/>
                <a:cs typeface="Calibri"/>
                <a:sym typeface="Calibri"/>
              </a:rPr>
              <a:t>(Not yet committed)</a:t>
            </a:r>
            <a:endParaRPr sz="1750"/>
          </a:p>
          <a:p>
            <a:pPr indent="-265906" lvl="1" marL="742950" rtl="0" algn="l">
              <a:spcBef>
                <a:spcPts val="0"/>
              </a:spcBef>
              <a:spcAft>
                <a:spcPts val="0"/>
              </a:spcAft>
              <a:buClr>
                <a:schemeClr val="dk1"/>
              </a:buClr>
              <a:buSzPct val="100000"/>
              <a:buChar char="○"/>
            </a:pPr>
            <a:r>
              <a:rPr lang="en-GB" sz="1750">
                <a:solidFill>
                  <a:schemeClr val="dk1"/>
                </a:solidFill>
                <a:latin typeface="Calibri"/>
                <a:ea typeface="Calibri"/>
                <a:cs typeface="Calibri"/>
                <a:sym typeface="Calibri"/>
              </a:rPr>
              <a:t>Multi‑asset support (crypto/commodities)</a:t>
            </a:r>
            <a:endParaRPr sz="1750">
              <a:solidFill>
                <a:schemeClr val="dk1"/>
              </a:solidFill>
              <a:latin typeface="Calibri"/>
              <a:ea typeface="Calibri"/>
              <a:cs typeface="Calibri"/>
              <a:sym typeface="Calibri"/>
            </a:endParaRPr>
          </a:p>
          <a:p>
            <a:pPr indent="-265906" lvl="1" marL="74295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Better UI</a:t>
            </a:r>
            <a:endParaRPr sz="1750">
              <a:solidFill>
                <a:schemeClr val="dk1"/>
              </a:solidFill>
              <a:latin typeface="Calibri"/>
              <a:ea typeface="Calibri"/>
              <a:cs typeface="Calibri"/>
              <a:sym typeface="Calibri"/>
            </a:endParaRPr>
          </a:p>
          <a:p>
            <a:pPr indent="-265906" lvl="1" marL="74295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Direct support from Robinhood APIs</a:t>
            </a:r>
            <a:endParaRPr sz="1750">
              <a:solidFill>
                <a:schemeClr val="dk1"/>
              </a:solidFill>
              <a:latin typeface="Calibri"/>
              <a:ea typeface="Calibri"/>
              <a:cs typeface="Calibri"/>
              <a:sym typeface="Calibri"/>
            </a:endParaRPr>
          </a:p>
          <a:p>
            <a:pPr indent="-265906" lvl="1" marL="74295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Alpaca API Integration</a:t>
            </a:r>
            <a:endParaRPr sz="1750">
              <a:solidFill>
                <a:schemeClr val="dk1"/>
              </a:solidFill>
              <a:latin typeface="Calibri"/>
              <a:ea typeface="Calibri"/>
              <a:cs typeface="Calibri"/>
              <a:sym typeface="Calibri"/>
            </a:endParaRPr>
          </a:p>
          <a:p>
            <a:pPr indent="0" lvl="0" marL="0" rtl="0" algn="l">
              <a:spcBef>
                <a:spcPts val="640"/>
              </a:spcBef>
              <a:spcAft>
                <a:spcPts val="0"/>
              </a:spcAft>
              <a:buNone/>
            </a:pPr>
            <a:r>
              <a:t/>
            </a:r>
            <a:endParaRPr sz="1750">
              <a:solidFill>
                <a:schemeClr val="dk1"/>
              </a:solidFill>
              <a:latin typeface="Calibri"/>
              <a:ea typeface="Calibri"/>
              <a:cs typeface="Calibri"/>
              <a:sym typeface="Calibri"/>
            </a:endParaRPr>
          </a:p>
          <a:p>
            <a:pPr indent="-323056" lvl="0" marL="457200" rtl="0" algn="l">
              <a:spcBef>
                <a:spcPts val="120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Conclusion</a:t>
            </a:r>
            <a:endParaRPr sz="1750">
              <a:solidFill>
                <a:schemeClr val="dk1"/>
              </a:solidFill>
              <a:latin typeface="Calibri"/>
              <a:ea typeface="Calibri"/>
              <a:cs typeface="Calibri"/>
              <a:sym typeface="Calibri"/>
            </a:endParaRPr>
          </a:p>
          <a:p>
            <a:pPr indent="-323056" lvl="1" marL="91440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Our system successfully delivers a transparent, web-based tool for portfolio performance and risk analysis.</a:t>
            </a:r>
            <a:endParaRPr sz="1750">
              <a:solidFill>
                <a:schemeClr val="dk1"/>
              </a:solidFill>
              <a:latin typeface="Calibri"/>
              <a:ea typeface="Calibri"/>
              <a:cs typeface="Calibri"/>
              <a:sym typeface="Calibri"/>
            </a:endParaRPr>
          </a:p>
          <a:p>
            <a:pPr indent="-323056" lvl="1" marL="91440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The OOP architecture makes the platform extensible, modular, and easy to improve</a:t>
            </a:r>
            <a:endParaRPr sz="1750">
              <a:solidFill>
                <a:schemeClr val="dk1"/>
              </a:solidFill>
              <a:latin typeface="Calibri"/>
              <a:ea typeface="Calibri"/>
              <a:cs typeface="Calibri"/>
              <a:sym typeface="Calibri"/>
            </a:endParaRPr>
          </a:p>
          <a:p>
            <a:pPr indent="-323056" lvl="1" marL="91440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Results closely align with financial theory and literature, validating our modeling approach.</a:t>
            </a:r>
            <a:endParaRPr sz="1750">
              <a:solidFill>
                <a:schemeClr val="dk1"/>
              </a:solidFill>
              <a:latin typeface="Calibri"/>
              <a:ea typeface="Calibri"/>
              <a:cs typeface="Calibri"/>
              <a:sym typeface="Calibri"/>
            </a:endParaRPr>
          </a:p>
          <a:p>
            <a:pPr indent="-323056" lvl="1" marL="914400" rtl="0" algn="l">
              <a:spcBef>
                <a:spcPts val="0"/>
              </a:spcBef>
              <a:spcAft>
                <a:spcPts val="0"/>
              </a:spcAft>
              <a:buClr>
                <a:schemeClr val="dk1"/>
              </a:buClr>
              <a:buSzPct val="100000"/>
              <a:buFont typeface="Calibri"/>
              <a:buChar char="○"/>
            </a:pPr>
            <a:r>
              <a:rPr lang="en-GB" sz="1750">
                <a:solidFill>
                  <a:schemeClr val="dk1"/>
                </a:solidFill>
                <a:latin typeface="Calibri"/>
                <a:ea typeface="Calibri"/>
                <a:cs typeface="Calibri"/>
                <a:sym typeface="Calibri"/>
              </a:rPr>
              <a:t>This project demonstrates how accessible tools can help everyday investors understand risk more clearly.</a:t>
            </a:r>
            <a:endParaRPr sz="17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GB" sz="4400">
                <a:latin typeface="Calibri"/>
                <a:ea typeface="Calibri"/>
                <a:cs typeface="Calibri"/>
                <a:sym typeface="Calibri"/>
              </a:rPr>
              <a:t>Literature</a:t>
            </a:r>
            <a:endParaRPr/>
          </a:p>
        </p:txBody>
      </p:sp>
      <p:sp>
        <p:nvSpPr>
          <p:cNvPr id="143" name="Google Shape;143;p2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0" lvl="0" marL="0" rtl="0" algn="l">
              <a:spcBef>
                <a:spcPts val="640"/>
              </a:spcBef>
              <a:spcAft>
                <a:spcPts val="0"/>
              </a:spcAft>
              <a:buNone/>
            </a:pPr>
            <a:r>
              <a:rPr lang="en-GB" sz="1600">
                <a:solidFill>
                  <a:schemeClr val="dk1"/>
                </a:solidFill>
                <a:latin typeface="Calibri"/>
                <a:ea typeface="Calibri"/>
                <a:cs typeface="Calibri"/>
                <a:sym typeface="Calibri"/>
              </a:rPr>
              <a:t>Markowitz, H. (1952). Portfolio selection. The Journal of Finance, 7(1), 77–91.</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GB" sz="1600">
                <a:solidFill>
                  <a:schemeClr val="dk1"/>
                </a:solidFill>
                <a:latin typeface="Calibri"/>
                <a:ea typeface="Calibri"/>
                <a:cs typeface="Calibri"/>
                <a:sym typeface="Calibri"/>
              </a:rPr>
              <a:t>Sharpe, W. F. (1966). Mutual fund performance. The Journal of Business, 39(1), 119–138.</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GB" sz="1600">
                <a:solidFill>
                  <a:schemeClr val="dk1"/>
                </a:solidFill>
                <a:latin typeface="Calibri"/>
                <a:ea typeface="Calibri"/>
                <a:cs typeface="Calibri"/>
                <a:sym typeface="Calibri"/>
              </a:rPr>
              <a:t>Hull, J. C. (2018). Options, futures, and other derivatives (10th ed.). Pearson.</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GB" sz="1600">
                <a:solidFill>
                  <a:schemeClr val="dk1"/>
                </a:solidFill>
                <a:latin typeface="Calibri"/>
                <a:ea typeface="Calibri"/>
                <a:cs typeface="Calibri"/>
                <a:sym typeface="Calibri"/>
              </a:rPr>
              <a:t>Jorion, P. (2007). Value at risk: The new benchmark for managing financial risk (3rd ed.). McGraw-Hill.</a:t>
            </a:r>
            <a:endParaRPr sz="1600">
              <a:solidFill>
                <a:schemeClr val="dk1"/>
              </a:solidFill>
              <a:latin typeface="Calibri"/>
              <a:ea typeface="Calibri"/>
              <a:cs typeface="Calibri"/>
              <a:sym typeface="Calibri"/>
            </a:endParaRPr>
          </a:p>
          <a:p>
            <a:pPr indent="0" lvl="0" marL="0" rtl="0" algn="l">
              <a:spcBef>
                <a:spcPts val="1200"/>
              </a:spcBef>
              <a:spcAft>
                <a:spcPts val="0"/>
              </a:spcAft>
              <a:buNone/>
            </a:pPr>
            <a:r>
              <a:rPr lang="en-GB" sz="1600">
                <a:solidFill>
                  <a:schemeClr val="dk1"/>
                </a:solidFill>
                <a:latin typeface="Calibri"/>
                <a:ea typeface="Calibri"/>
                <a:cs typeface="Calibri"/>
                <a:sym typeface="Calibri"/>
              </a:rPr>
              <a:t>Kahar, R. H., Kaerudin, N. P., &amp; Vimelia, W. (2023). Optimal portfolio risk analysis using the Monte Carlo method. </a:t>
            </a:r>
            <a:endParaRPr sz="1600">
              <a:solidFill>
                <a:schemeClr val="dk1"/>
              </a:solidFill>
              <a:latin typeface="Calibri"/>
              <a:ea typeface="Calibri"/>
              <a:cs typeface="Calibri"/>
              <a:sym typeface="Calibri"/>
            </a:endParaRPr>
          </a:p>
          <a:p>
            <a:pPr indent="0" lvl="0" marL="0" rtl="0" algn="l">
              <a:spcBef>
                <a:spcPts val="1200"/>
              </a:spcBef>
              <a:spcAft>
                <a:spcPts val="1200"/>
              </a:spcAft>
              <a:buNone/>
            </a:pPr>
            <a:r>
              <a:rPr lang="en-GB" sz="1600">
                <a:solidFill>
                  <a:schemeClr val="dk1"/>
                </a:solidFill>
                <a:latin typeface="Calibri"/>
                <a:ea typeface="Calibri"/>
                <a:cs typeface="Calibri"/>
                <a:sym typeface="Calibri"/>
              </a:rPr>
              <a:t>Marupanthorn, P., Peters, G. W., Ofosu-Hene, E. D., Nikitopoulos, C. S., &amp; Richards, K.-A. (2024). DivFolio: A Shiny application for portfolio divestment in green finance wealth management. Annals of Actuarial Science, 18(2), 379–422.</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457200" y="2275204"/>
            <a:ext cx="8229600" cy="8574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GB"/>
              <a:t>Thank You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GB"/>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